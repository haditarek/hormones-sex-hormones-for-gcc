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5" r:id="rId2"/>
    <p:sldId id="276" r:id="rId3"/>
    <p:sldId id="27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8460"/>
    <a:srgbClr val="498D5F"/>
    <a:srgbClr val="439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754" y="67"/>
      </p:cViewPr>
      <p:guideLst>
        <p:guide orient="horz" pos="2184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iomed\Desktop\SLS\Blood%20and%20bood%20form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arek\OneDrive\Documents\Hadi\Hadi\Stio\IMS\IMS%20Q1%2023\ATC\H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iomed\Desktop\SLS\Blood%20and%20bood%20form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arek\OneDrive\Documents\Hadi\Hadi\Stio\IMS\IMS%20Q1%2023\ATC\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iomed\Desktop\SLS\Blood%20and%20bood%20form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arek\OneDrive\Documents\Hadi\Hadi\Stio\IMS\IMS%20Q1%2023\ATC\H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arek\OneDrive\Documents\Hadi\Hadi\Stio\IMS\IMS%20Q1%2023\ATC\H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390223482338679E-2"/>
          <c:y val="0.726336928776119"/>
          <c:w val="0.89219532489945608"/>
          <c:h val="0.257534047671868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498D5F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Systemic</a:t>
            </a:r>
            <a:r>
              <a:rPr lang="en-US" baseline="0" dirty="0"/>
              <a:t> Hormonal Prep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29-49BE-8E7C-014976FA424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29-49BE-8E7C-014976FA424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29-49BE-8E7C-014976FA424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29-49BE-8E7C-014976FA424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B29-49BE-8E7C-014976FA424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B29-49BE-8E7C-014976FA424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EB29-49BE-8E7C-014976FA424F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B29-49BE-8E7C-014976FA424F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EB29-49BE-8E7C-014976FA424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Sheet3!$C$3:$C$11</c:f>
              <c:strCache>
                <c:ptCount val="9"/>
                <c:pt idx="0">
                  <c:v>DEXAMETHASONE PHOS</c:v>
                </c:pt>
                <c:pt idx="1">
                  <c:v>PHENADONE</c:v>
                </c:pt>
                <c:pt idx="2">
                  <c:v>DEXAMETHASONE</c:v>
                </c:pt>
                <c:pt idx="3">
                  <c:v>DEXAZONE</c:v>
                </c:pt>
                <c:pt idx="4">
                  <c:v>APIDONE</c:v>
                </c:pt>
                <c:pt idx="5">
                  <c:v>DEXAMETHASONE EIPI</c:v>
                </c:pt>
                <c:pt idx="6">
                  <c:v>EPIDRON</c:v>
                </c:pt>
                <c:pt idx="7">
                  <c:v>PREDSOL</c:v>
                </c:pt>
                <c:pt idx="8">
                  <c:v>SOLUPRED</c:v>
                </c:pt>
              </c:strCache>
            </c:strRef>
          </c:cat>
          <c:val>
            <c:numRef>
              <c:f>Sheet3!$D$3:$D$11</c:f>
              <c:numCache>
                <c:formatCode>0.0%</c:formatCode>
                <c:ptCount val="9"/>
                <c:pt idx="0">
                  <c:v>0.1077811545985473</c:v>
                </c:pt>
                <c:pt idx="1">
                  <c:v>9.3184279330063749E-2</c:v>
                </c:pt>
                <c:pt idx="2">
                  <c:v>7.5417148123474664E-2</c:v>
                </c:pt>
                <c:pt idx="3">
                  <c:v>4.4359806123935676E-2</c:v>
                </c:pt>
                <c:pt idx="4">
                  <c:v>5.4665436832029977E-2</c:v>
                </c:pt>
                <c:pt idx="5">
                  <c:v>5.5859616326313664E-2</c:v>
                </c:pt>
                <c:pt idx="6">
                  <c:v>4.8201252763984216E-2</c:v>
                </c:pt>
                <c:pt idx="7">
                  <c:v>2.0817373995266987E-2</c:v>
                </c:pt>
                <c:pt idx="8">
                  <c:v>4.0045242226668151E-2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B29-49BE-8E7C-014976FA424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451899404091667"/>
          <c:y val="6.2539880095380834E-2"/>
          <c:w val="0.6583206141551865"/>
          <c:h val="0.56404486875667725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0583739671679423E-2"/>
          <c:y val="0.70270924260827528"/>
          <c:w val="0.91154174857899239"/>
          <c:h val="0.277248790248977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498D5F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H01</a:t>
            </a:r>
            <a:r>
              <a:rPr lang="en-US" baseline="0" dirty="0"/>
              <a:t> MS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3F-4106-BEC7-8C26E82C321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3F-4106-BEC7-8C26E82C321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3F-4106-BEC7-8C26E82C321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53F-4106-BEC7-8C26E82C321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53F-4106-BEC7-8C26E82C321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53F-4106-BEC7-8C26E82C3214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A53F-4106-BEC7-8C26E82C3214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A53F-4106-BEC7-8C26E82C32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'L2 L3'!$AA$30:$AA$37</c:f>
              <c:strCache>
                <c:ptCount val="8"/>
                <c:pt idx="0">
                  <c:v>CETROTIDE</c:v>
                </c:pt>
                <c:pt idx="1">
                  <c:v>SANDOSTATIN LAR</c:v>
                </c:pt>
                <c:pt idx="2">
                  <c:v>BENDATREOTID</c:v>
                </c:pt>
                <c:pt idx="3">
                  <c:v>ADRENOCORTINE</c:v>
                </c:pt>
                <c:pt idx="4">
                  <c:v>SANDOSTATIN</c:v>
                </c:pt>
                <c:pt idx="5">
                  <c:v>BENDATRCOTID</c:v>
                </c:pt>
                <c:pt idx="6">
                  <c:v>TRIPTOFEM</c:v>
                </c:pt>
                <c:pt idx="7">
                  <c:v>OCTREOSTAT</c:v>
                </c:pt>
              </c:strCache>
            </c:strRef>
          </c:cat>
          <c:val>
            <c:numRef>
              <c:f>'L2 L3'!$AB$30:$AB$37</c:f>
              <c:numCache>
                <c:formatCode>0.0%</c:formatCode>
                <c:ptCount val="8"/>
                <c:pt idx="0">
                  <c:v>0.34447853873156986</c:v>
                </c:pt>
                <c:pt idx="1">
                  <c:v>0.26520690962228938</c:v>
                </c:pt>
                <c:pt idx="2">
                  <c:v>0.13156896313752342</c:v>
                </c:pt>
                <c:pt idx="3">
                  <c:v>0.10663669624567584</c:v>
                </c:pt>
                <c:pt idx="4">
                  <c:v>9.4299781274255493E-2</c:v>
                </c:pt>
                <c:pt idx="5">
                  <c:v>3.1150436329848343E-2</c:v>
                </c:pt>
                <c:pt idx="6">
                  <c:v>2.4712687285905692E-2</c:v>
                </c:pt>
                <c:pt idx="7">
                  <c:v>1.9459873729319613E-3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53F-4106-BEC7-8C26E82C3214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451899404091667"/>
          <c:y val="6.2539880095380834E-2"/>
          <c:w val="0.6583206141551865"/>
          <c:h val="0.56404486875667725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0583739671679423E-2"/>
          <c:y val="0.70270924260827528"/>
          <c:w val="0.91154174857899239"/>
          <c:h val="0.277248790248977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498D5F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H01C MS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DEC-4738-A41B-7CE57101A9B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EC-4738-A41B-7CE57101A9B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DEC-4738-A41B-7CE57101A9B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DEC-4738-A41B-7CE57101A9B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DEC-4738-A41B-7CE57101A9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Sheet1!$AT$18:$AT$22</c:f>
              <c:strCache>
                <c:ptCount val="5"/>
                <c:pt idx="0">
                  <c:v>SANDOSTATIN LAR</c:v>
                </c:pt>
                <c:pt idx="1">
                  <c:v>BENDATREOTID</c:v>
                </c:pt>
                <c:pt idx="2">
                  <c:v>SANDOSTATIN</c:v>
                </c:pt>
                <c:pt idx="3">
                  <c:v>BENDATRCOTID</c:v>
                </c:pt>
                <c:pt idx="4">
                  <c:v>OCTREOSTAT</c:v>
                </c:pt>
              </c:strCache>
            </c:strRef>
          </c:cat>
          <c:val>
            <c:numRef>
              <c:f>Sheet1!$AU$18:$AU$22</c:f>
              <c:numCache>
                <c:formatCode>#,##0</c:formatCode>
                <c:ptCount val="5"/>
                <c:pt idx="0">
                  <c:v>17075715</c:v>
                </c:pt>
                <c:pt idx="1">
                  <c:v>1634976</c:v>
                </c:pt>
                <c:pt idx="2">
                  <c:v>4742715</c:v>
                </c:pt>
                <c:pt idx="3">
                  <c:v>6170640</c:v>
                </c:pt>
                <c:pt idx="4">
                  <c:v>406406.25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DEC-4738-A41B-7CE57101A9B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B624E-CB1C-4930-BC04-EE20C98ED65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1E96C-2A40-4BEF-BFB2-87D38A7CA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0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5BBA-2122-91CE-3F7E-92196E32F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47893-09F4-F76C-A19B-55DE9CAB2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3FFA-6BA7-0A89-D315-E870F1F4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294EE-3452-68AC-127C-D07DBECA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4640A-4E39-AF0E-AFD4-6EADB10EC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92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8AE5-D519-A12A-B4C1-549A18D8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FC4EC-D729-A4FA-5903-08B8FD1D4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0F00C-40B7-E3FD-0709-BB5EB927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8856-10FA-6112-64BC-EB6143BB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80BB8-1FDF-2CD0-62C5-51F48279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962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044E-833C-8B31-2D78-2B7C26BE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F0D49-30F1-9855-5967-9B2637CAF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1A150-5E2B-2A4E-81E4-635BD594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521E-7958-5282-2F41-080E1592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AEE9F-347E-0FAC-2671-A7FF69F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3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CAFC-E406-E7E3-12A6-AF84101D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5B8B9-9A30-9D71-61CE-2BD30233A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456E9-4D92-4485-925E-80991CEEE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BE4FC-91C2-9556-89FB-BFA1AD2A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456FE-D6B0-F231-6CAB-D3948907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EB253-4CF2-4EBE-96D8-BC14FC06D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08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31BE-6871-2D6A-62F9-67B1B7C15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9AE73-0C33-DC68-BB16-D9035F43B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F3222-696B-8A0D-3211-862814CE6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D7E79E-394F-74BC-68ED-29117A204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9A7B1A-85DC-DE03-F02D-D80F52BE0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1DC0D-B788-B248-E518-17BFCC73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2559B-3F6C-99CA-3515-4BBF2BA9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16095-F38E-9CE9-FD5E-205DFA4B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4F2C4-F2F1-3BF8-8901-6F9311C0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0000E-FF6F-5FDB-4D4A-BC505FB8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71016-CEF1-6509-3867-B2B30F61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F7DD1-87A4-43B1-60E7-9521EAD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9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146D8-4A73-3B35-4C51-E18069EEE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8E159-8BD8-4FB8-61B1-25F1AAED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EC323-8157-AD97-5E23-ECB34D5B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2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EBC9-C05A-9BD2-E195-8F9EE30E1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CBC13-2A43-452F-1178-8E9F46F75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4D733-5CF5-0C97-56F3-FB4CCF80F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5EAD4-72DC-BC1B-6988-813ED30F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DB832-7C4C-38BA-F064-D2E0598EF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A626D-E877-1473-4A0F-07BA4347E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0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DB75-E4A9-30F5-2192-30AD9E4C0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04B8F6-30C0-248A-65E8-F9E3C048A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0001A-4D32-02AA-A71A-F97ED2529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DE3DC-0914-0C8B-D9FB-7FCD9EAC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7E2D7-9B22-C8CA-B966-2A0D3689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7C19A-221A-F7B9-6BC1-2A89E00B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8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A0B88-975B-7C25-1524-33FBC9D17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C29C1-3F5D-36FB-7D07-2E052886E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8E01F-5A4F-5F13-B237-29691AE9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C636C-B398-3A44-304B-C1CD762D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E64B9-F525-C0F1-1688-4ECFCCF3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274A51-4E4E-E73F-A17F-BBF793E4B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28E50-8659-8A58-9733-CFDBD70F3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79A0F-F2B3-4FD1-B816-4E67D5B8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A2169-CCD8-7F7B-ADED-48A65EFDF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8B8FD-ABEE-15B2-6186-8CE8D95E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6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16698-F4ED-AF88-4FAF-339F96B1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EC536-3F01-8FE8-F682-5F670C057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36050-8F0E-5AB9-701D-22CD68695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BD9AD-3E44-4F32-A00C-CA1AD1B43E2D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C7994-A684-9F16-0ABB-2441D51FC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5BDCD-18BD-AFFE-2071-14BAFA16D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FEBDE-365C-4591-844E-54202C966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9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C123-DA5B-B51F-D2D9-6A2D783B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8" y="86265"/>
            <a:ext cx="10877550" cy="1037686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 </a:t>
            </a:r>
            <a:b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SYSTEMIC HORMONAL PREPARATIONS, EXCL. SEX HORMONES </a:t>
            </a:r>
            <a:b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INSULINS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F5474-582F-3925-95E0-1B47A8AE3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1536085"/>
            <a:ext cx="3137857" cy="4165600"/>
          </a:xfrm>
          <a:ln>
            <a:solidFill>
              <a:srgbClr val="498D5F"/>
            </a:solidFill>
          </a:ln>
        </p:spPr>
        <p:txBody>
          <a:bodyPr/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category is grow with 13% on a value basis and 2.8% on a Volume basis.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98 products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52 Corps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Somatropin leads on values while Dexamethasone phosphate leads on units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85575ED-DCA2-F0C5-A8FF-CF7552FEEE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8895511"/>
              </p:ext>
            </p:extLst>
          </p:nvPr>
        </p:nvGraphicFramePr>
        <p:xfrm>
          <a:off x="3836601" y="1932642"/>
          <a:ext cx="3038655" cy="3765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DDD8DB-53B9-EE11-FF28-3240C88D6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845111"/>
              </p:ext>
            </p:extLst>
          </p:nvPr>
        </p:nvGraphicFramePr>
        <p:xfrm>
          <a:off x="7062967" y="1525328"/>
          <a:ext cx="2290582" cy="4559368"/>
        </p:xfrm>
        <a:graphic>
          <a:graphicData uri="http://schemas.openxmlformats.org/drawingml/2006/table">
            <a:tbl>
              <a:tblPr/>
              <a:tblGrid>
                <a:gridCol w="911992">
                  <a:extLst>
                    <a:ext uri="{9D8B030D-6E8A-4147-A177-3AD203B41FA5}">
                      <a16:colId xmlns:a16="http://schemas.microsoft.com/office/drawing/2014/main" val="1632220176"/>
                    </a:ext>
                  </a:extLst>
                </a:gridCol>
                <a:gridCol w="453049">
                  <a:extLst>
                    <a:ext uri="{9D8B030D-6E8A-4147-A177-3AD203B41FA5}">
                      <a16:colId xmlns:a16="http://schemas.microsoft.com/office/drawing/2014/main" val="1739973414"/>
                    </a:ext>
                  </a:extLst>
                </a:gridCol>
                <a:gridCol w="439947">
                  <a:extLst>
                    <a:ext uri="{9D8B030D-6E8A-4147-A177-3AD203B41FA5}">
                      <a16:colId xmlns:a16="http://schemas.microsoft.com/office/drawing/2014/main" val="3618419066"/>
                    </a:ext>
                  </a:extLst>
                </a:gridCol>
                <a:gridCol w="485594">
                  <a:extLst>
                    <a:ext uri="{9D8B030D-6E8A-4147-A177-3AD203B41FA5}">
                      <a16:colId xmlns:a16="http://schemas.microsoft.com/office/drawing/2014/main" val="3549613120"/>
                    </a:ext>
                  </a:extLst>
                </a:gridCol>
              </a:tblGrid>
              <a:tr h="4273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 FY</a:t>
                      </a:r>
                    </a:p>
                    <a:p>
                      <a:pPr algn="ctr" fontAlgn="b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Mln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LE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7538"/>
                  </a:ext>
                </a:extLst>
              </a:tr>
              <a:tr h="505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817924"/>
                  </a:ext>
                </a:extLst>
              </a:tr>
              <a:tr h="505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SOMATROPIN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889350"/>
                  </a:ext>
                </a:extLst>
              </a:tr>
              <a:tr h="505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DEXAMETHASONE PHOS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359447"/>
                  </a:ext>
                </a:extLst>
              </a:tr>
              <a:tr h="505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SOLUPRED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5582"/>
                  </a:ext>
                </a:extLst>
              </a:tr>
              <a:tr h="2581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NORDITROPIN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2568"/>
                  </a:ext>
                </a:extLst>
              </a:tr>
              <a:tr h="2581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DEXAMETHASONE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086066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ELTROXIN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24653"/>
                  </a:ext>
                </a:extLst>
              </a:tr>
              <a:tr h="2581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PHENADONE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591357"/>
                  </a:ext>
                </a:extLst>
              </a:tr>
              <a:tr h="2581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DEXAMETHASONE EIPI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974086"/>
                  </a:ext>
                </a:extLst>
              </a:tr>
              <a:tr h="32705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APIDONE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875423"/>
                  </a:ext>
                </a:extLst>
              </a:tr>
              <a:tr h="2581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CETROTIDE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1526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CF7FF44-104C-B40E-E582-697EC2EEA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18357"/>
              </p:ext>
            </p:extLst>
          </p:nvPr>
        </p:nvGraphicFramePr>
        <p:xfrm>
          <a:off x="9372601" y="1536085"/>
          <a:ext cx="2669875" cy="4541445"/>
        </p:xfrm>
        <a:graphic>
          <a:graphicData uri="http://schemas.openxmlformats.org/drawingml/2006/table">
            <a:tbl>
              <a:tblPr/>
              <a:tblGrid>
                <a:gridCol w="1063006">
                  <a:extLst>
                    <a:ext uri="{9D8B030D-6E8A-4147-A177-3AD203B41FA5}">
                      <a16:colId xmlns:a16="http://schemas.microsoft.com/office/drawing/2014/main" val="1632220176"/>
                    </a:ext>
                  </a:extLst>
                </a:gridCol>
                <a:gridCol w="679829">
                  <a:extLst>
                    <a:ext uri="{9D8B030D-6E8A-4147-A177-3AD203B41FA5}">
                      <a16:colId xmlns:a16="http://schemas.microsoft.com/office/drawing/2014/main" val="1739973414"/>
                    </a:ext>
                  </a:extLst>
                </a:gridCol>
                <a:gridCol w="510454">
                  <a:extLst>
                    <a:ext uri="{9D8B030D-6E8A-4147-A177-3AD203B41FA5}">
                      <a16:colId xmlns:a16="http://schemas.microsoft.com/office/drawing/2014/main" val="3618419066"/>
                    </a:ext>
                  </a:extLst>
                </a:gridCol>
                <a:gridCol w="416586">
                  <a:extLst>
                    <a:ext uri="{9D8B030D-6E8A-4147-A177-3AD203B41FA5}">
                      <a16:colId xmlns:a16="http://schemas.microsoft.com/office/drawing/2014/main" val="3549613120"/>
                    </a:ext>
                  </a:extLst>
                </a:gridCol>
              </a:tblGrid>
              <a:tr h="4194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 Units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2022 FY</a:t>
                      </a:r>
                    </a:p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000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MS%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G%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7538"/>
                  </a:ext>
                </a:extLst>
              </a:tr>
              <a:tr h="531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119,714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817924"/>
                  </a:ext>
                </a:extLst>
              </a:tr>
              <a:tr h="531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DEXAMETHASONE PHOS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19,309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359447"/>
                  </a:ext>
                </a:extLst>
              </a:tr>
              <a:tr h="531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PHENADONE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5582"/>
                  </a:ext>
                </a:extLst>
              </a:tr>
              <a:tr h="271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DEXAMETHASONE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11,155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2568"/>
                  </a:ext>
                </a:extLst>
              </a:tr>
              <a:tr h="271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DEXAZONE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086066"/>
                  </a:ext>
                </a:extLst>
              </a:tr>
              <a:tr h="271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APIDONE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-31.0%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24653"/>
                  </a:ext>
                </a:extLst>
              </a:tr>
              <a:tr h="271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DEXAMETHASONE EIPI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6,544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591357"/>
                  </a:ext>
                </a:extLst>
              </a:tr>
              <a:tr h="271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EPIDRON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974086"/>
                  </a:ext>
                </a:extLst>
              </a:tr>
              <a:tr h="43136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PREDSOL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119,714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875423"/>
                  </a:ext>
                </a:extLst>
              </a:tr>
              <a:tr h="6687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SOLUPRED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19,309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-47.4%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15264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9167896-8184-E3D1-4D8C-543592A047FC}"/>
              </a:ext>
            </a:extLst>
          </p:cNvPr>
          <p:cNvSpPr/>
          <p:nvPr/>
        </p:nvSpPr>
        <p:spPr>
          <a:xfrm>
            <a:off x="3821406" y="1525328"/>
            <a:ext cx="3062467" cy="413664"/>
          </a:xfrm>
          <a:prstGeom prst="rect">
            <a:avLst/>
          </a:prstGeom>
          <a:solidFill>
            <a:srgbClr val="498460"/>
          </a:solidFill>
          <a:ln>
            <a:solidFill>
              <a:srgbClr val="498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defRPr sz="1100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Systemic Hormonal Preparation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B3D6219-02FB-97A1-D58C-BBC14F7A31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045301"/>
              </p:ext>
            </p:extLst>
          </p:nvPr>
        </p:nvGraphicFramePr>
        <p:xfrm>
          <a:off x="3783710" y="2433412"/>
          <a:ext cx="313785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28972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F5474-582F-3925-95E0-1B47A8AE3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536085"/>
            <a:ext cx="3390900" cy="4204930"/>
          </a:xfrm>
          <a:ln>
            <a:solidFill>
              <a:srgbClr val="498D5F"/>
            </a:solidFill>
          </a:ln>
        </p:spPr>
        <p:txBody>
          <a:bodyPr/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category is growing with 2% on a value basis and 26% on a Volume basis.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8 products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6 Corps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Cetrotide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leads on values while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Adrenocortine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leads on units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DDD8DB-53B9-EE11-FF28-3240C88D6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673624"/>
              </p:ext>
            </p:extLst>
          </p:nvPr>
        </p:nvGraphicFramePr>
        <p:xfrm>
          <a:off x="7296149" y="1525328"/>
          <a:ext cx="2057401" cy="3436529"/>
        </p:xfrm>
        <a:graphic>
          <a:graphicData uri="http://schemas.openxmlformats.org/drawingml/2006/table">
            <a:tbl>
              <a:tblPr/>
              <a:tblGrid>
                <a:gridCol w="819151">
                  <a:extLst>
                    <a:ext uri="{9D8B030D-6E8A-4147-A177-3AD203B41FA5}">
                      <a16:colId xmlns:a16="http://schemas.microsoft.com/office/drawing/2014/main" val="1632220176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1739973414"/>
                    </a:ext>
                  </a:extLst>
                </a:gridCol>
                <a:gridCol w="393355">
                  <a:extLst>
                    <a:ext uri="{9D8B030D-6E8A-4147-A177-3AD203B41FA5}">
                      <a16:colId xmlns:a16="http://schemas.microsoft.com/office/drawing/2014/main" val="3618419066"/>
                    </a:ext>
                  </a:extLst>
                </a:gridCol>
                <a:gridCol w="321020">
                  <a:extLst>
                    <a:ext uri="{9D8B030D-6E8A-4147-A177-3AD203B41FA5}">
                      <a16:colId xmlns:a16="http://schemas.microsoft.com/office/drawing/2014/main" val="3549613120"/>
                    </a:ext>
                  </a:extLst>
                </a:gridCol>
              </a:tblGrid>
              <a:tr h="3869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Values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 FY</a:t>
                      </a:r>
                    </a:p>
                    <a:p>
                      <a:pPr algn="ctr" fontAlgn="b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Mln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LE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7538"/>
                  </a:ext>
                </a:extLst>
              </a:tr>
              <a:tr h="4573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CETROTIDE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817924"/>
                  </a:ext>
                </a:extLst>
              </a:tr>
              <a:tr h="4573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SANDOSTATIN LAR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359447"/>
                  </a:ext>
                </a:extLst>
              </a:tr>
              <a:tr h="4573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BENDATREOTID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5582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ADRENOCORTINE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2568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SANDOSTATIN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086066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BENDATRCOTID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24653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TRIPTOFEM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591357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OCTREOSTAT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118168%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97408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CF7FF44-104C-B40E-E582-697EC2EEA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866724"/>
              </p:ext>
            </p:extLst>
          </p:nvPr>
        </p:nvGraphicFramePr>
        <p:xfrm>
          <a:off x="9382126" y="1501397"/>
          <a:ext cx="2057401" cy="3482162"/>
        </p:xfrm>
        <a:graphic>
          <a:graphicData uri="http://schemas.openxmlformats.org/drawingml/2006/table">
            <a:tbl>
              <a:tblPr/>
              <a:tblGrid>
                <a:gridCol w="819151">
                  <a:extLst>
                    <a:ext uri="{9D8B030D-6E8A-4147-A177-3AD203B41FA5}">
                      <a16:colId xmlns:a16="http://schemas.microsoft.com/office/drawing/2014/main" val="1632220176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1739973414"/>
                    </a:ext>
                  </a:extLst>
                </a:gridCol>
                <a:gridCol w="393355">
                  <a:extLst>
                    <a:ext uri="{9D8B030D-6E8A-4147-A177-3AD203B41FA5}">
                      <a16:colId xmlns:a16="http://schemas.microsoft.com/office/drawing/2014/main" val="3618419066"/>
                    </a:ext>
                  </a:extLst>
                </a:gridCol>
                <a:gridCol w="321020">
                  <a:extLst>
                    <a:ext uri="{9D8B030D-6E8A-4147-A177-3AD203B41FA5}">
                      <a16:colId xmlns:a16="http://schemas.microsoft.com/office/drawing/2014/main" val="3549613120"/>
                    </a:ext>
                  </a:extLst>
                </a:gridCol>
              </a:tblGrid>
              <a:tr h="3766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 Units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2022 FY</a:t>
                      </a:r>
                    </a:p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000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MS%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G%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7538"/>
                  </a:ext>
                </a:extLst>
              </a:tr>
              <a:tr h="477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782,393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817924"/>
                  </a:ext>
                </a:extLst>
              </a:tr>
              <a:tr h="477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ADRENOCORTINE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457,739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359447"/>
                  </a:ext>
                </a:extLst>
              </a:tr>
              <a:tr h="477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TRIPTOFEM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96,900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5582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BENDATREOTID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81,855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2568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SANDOSTATIN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66,822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086066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CETROTIDE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40,287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24653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SANDOSTATIN LAR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31,583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591357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BENDATRCOTID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5,081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7717%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97408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9167896-8184-E3D1-4D8C-543592A047FC}"/>
              </a:ext>
            </a:extLst>
          </p:cNvPr>
          <p:cNvSpPr/>
          <p:nvPr/>
        </p:nvSpPr>
        <p:spPr>
          <a:xfrm>
            <a:off x="3976688" y="1542058"/>
            <a:ext cx="3257548" cy="413664"/>
          </a:xfrm>
          <a:prstGeom prst="rect">
            <a:avLst/>
          </a:prstGeom>
          <a:solidFill>
            <a:srgbClr val="498460"/>
          </a:solidFill>
          <a:ln>
            <a:solidFill>
              <a:srgbClr val="498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defRPr sz="1100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H01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C6B3806-5EE5-551F-B413-5D3E574BD2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6066598"/>
              </p:ext>
            </p:extLst>
          </p:nvPr>
        </p:nvGraphicFramePr>
        <p:xfrm>
          <a:off x="3976688" y="1928236"/>
          <a:ext cx="3257548" cy="3802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26C58EE-19AA-1FB3-DDB3-CC925A189E70}"/>
              </a:ext>
            </a:extLst>
          </p:cNvPr>
          <p:cNvSpPr txBox="1">
            <a:spLocks/>
          </p:cNvSpPr>
          <p:nvPr/>
        </p:nvSpPr>
        <p:spPr>
          <a:xfrm>
            <a:off x="53198" y="86265"/>
            <a:ext cx="10877550" cy="1037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 01</a:t>
            </a:r>
            <a:b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SYSTEMIC HORMONAL PREPARATIONS, EXCL. SEX HORMONES </a:t>
            </a:r>
            <a:b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INSULINS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A8F7063-9D4D-A109-A83E-999F21245D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8070128"/>
              </p:ext>
            </p:extLst>
          </p:nvPr>
        </p:nvGraphicFramePr>
        <p:xfrm>
          <a:off x="4111654" y="2341900"/>
          <a:ext cx="298761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77653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F5474-582F-3925-95E0-1B47A8AE3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536085"/>
            <a:ext cx="3390900" cy="4204930"/>
          </a:xfrm>
          <a:ln>
            <a:solidFill>
              <a:srgbClr val="498D5F"/>
            </a:solidFill>
          </a:ln>
        </p:spPr>
        <p:txBody>
          <a:bodyPr/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category is growing with 9.5% on a value basis and 61% on a Volume basis.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5 products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3 Corps</a:t>
            </a:r>
          </a:p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Sandostatin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Lar leads on values while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Bendatrcotid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leads on units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DDD8DB-53B9-EE11-FF28-3240C88D6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640837"/>
              </p:ext>
            </p:extLst>
          </p:nvPr>
        </p:nvGraphicFramePr>
        <p:xfrm>
          <a:off x="7296149" y="1525328"/>
          <a:ext cx="2057401" cy="3375217"/>
        </p:xfrm>
        <a:graphic>
          <a:graphicData uri="http://schemas.openxmlformats.org/drawingml/2006/table">
            <a:tbl>
              <a:tblPr/>
              <a:tblGrid>
                <a:gridCol w="819151">
                  <a:extLst>
                    <a:ext uri="{9D8B030D-6E8A-4147-A177-3AD203B41FA5}">
                      <a16:colId xmlns:a16="http://schemas.microsoft.com/office/drawing/2014/main" val="1632220176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1739973414"/>
                    </a:ext>
                  </a:extLst>
                </a:gridCol>
                <a:gridCol w="297791">
                  <a:extLst>
                    <a:ext uri="{9D8B030D-6E8A-4147-A177-3AD203B41FA5}">
                      <a16:colId xmlns:a16="http://schemas.microsoft.com/office/drawing/2014/main" val="3618419066"/>
                    </a:ext>
                  </a:extLst>
                </a:gridCol>
                <a:gridCol w="416584">
                  <a:extLst>
                    <a:ext uri="{9D8B030D-6E8A-4147-A177-3AD203B41FA5}">
                      <a16:colId xmlns:a16="http://schemas.microsoft.com/office/drawing/2014/main" val="3549613120"/>
                    </a:ext>
                  </a:extLst>
                </a:gridCol>
              </a:tblGrid>
              <a:tr h="3869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Values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 FY</a:t>
                      </a:r>
                    </a:p>
                    <a:p>
                      <a:pPr algn="ctr" fontAlgn="b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Mln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LE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7538"/>
                  </a:ext>
                </a:extLst>
              </a:tr>
              <a:tr h="4573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817924"/>
                  </a:ext>
                </a:extLst>
              </a:tr>
              <a:tr h="4573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SANDOSTATIN LAR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359447"/>
                  </a:ext>
                </a:extLst>
              </a:tr>
              <a:tr h="4573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BENDATREOTID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5582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SANDOSTATIN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2568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BENDATRCOTID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148976.9%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086066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OCTREOSTAT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24653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591357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97408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CF7FF44-104C-B40E-E582-697EC2EEA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954900"/>
              </p:ext>
            </p:extLst>
          </p:nvPr>
        </p:nvGraphicFramePr>
        <p:xfrm>
          <a:off x="9382126" y="1501397"/>
          <a:ext cx="2599964" cy="3380894"/>
        </p:xfrm>
        <a:graphic>
          <a:graphicData uri="http://schemas.openxmlformats.org/drawingml/2006/table">
            <a:tbl>
              <a:tblPr/>
              <a:tblGrid>
                <a:gridCol w="1035172">
                  <a:extLst>
                    <a:ext uri="{9D8B030D-6E8A-4147-A177-3AD203B41FA5}">
                      <a16:colId xmlns:a16="http://schemas.microsoft.com/office/drawing/2014/main" val="1632220176"/>
                    </a:ext>
                  </a:extLst>
                </a:gridCol>
                <a:gridCol w="662028">
                  <a:extLst>
                    <a:ext uri="{9D8B030D-6E8A-4147-A177-3AD203B41FA5}">
                      <a16:colId xmlns:a16="http://schemas.microsoft.com/office/drawing/2014/main" val="1739973414"/>
                    </a:ext>
                  </a:extLst>
                </a:gridCol>
                <a:gridCol w="497087">
                  <a:extLst>
                    <a:ext uri="{9D8B030D-6E8A-4147-A177-3AD203B41FA5}">
                      <a16:colId xmlns:a16="http://schemas.microsoft.com/office/drawing/2014/main" val="3618419066"/>
                    </a:ext>
                  </a:extLst>
                </a:gridCol>
                <a:gridCol w="405677">
                  <a:extLst>
                    <a:ext uri="{9D8B030D-6E8A-4147-A177-3AD203B41FA5}">
                      <a16:colId xmlns:a16="http://schemas.microsoft.com/office/drawing/2014/main" val="3549613120"/>
                    </a:ext>
                  </a:extLst>
                </a:gridCol>
              </a:tblGrid>
              <a:tr h="3766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 Units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2022 FY</a:t>
                      </a:r>
                    </a:p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000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MS%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"/>
                        </a:rPr>
                        <a:t>G%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7538"/>
                  </a:ext>
                </a:extLst>
              </a:tr>
              <a:tr h="477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817924"/>
                  </a:ext>
                </a:extLst>
              </a:tr>
              <a:tr h="477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BENDATRCOTID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359447"/>
                  </a:ext>
                </a:extLst>
              </a:tr>
              <a:tr h="477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BENDATREOTID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5582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SANDOSTATIN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2568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TRIPTOFEM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7717%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086066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CETROTIDE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24653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SANDOSTATIN LAR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591357"/>
                  </a:ext>
                </a:extLst>
              </a:tr>
              <a:tr h="307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OCTREOSTAT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984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97408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9167896-8184-E3D1-4D8C-543592A047FC}"/>
              </a:ext>
            </a:extLst>
          </p:cNvPr>
          <p:cNvSpPr/>
          <p:nvPr/>
        </p:nvSpPr>
        <p:spPr>
          <a:xfrm>
            <a:off x="3976688" y="1542058"/>
            <a:ext cx="3257548" cy="413664"/>
          </a:xfrm>
          <a:prstGeom prst="rect">
            <a:avLst/>
          </a:prstGeom>
          <a:solidFill>
            <a:srgbClr val="498460"/>
          </a:solidFill>
          <a:ln>
            <a:solidFill>
              <a:srgbClr val="498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defRPr sz="1100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H01 C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C6B3806-5EE5-551F-B413-5D3E574BD2D5}"/>
              </a:ext>
            </a:extLst>
          </p:cNvPr>
          <p:cNvGraphicFramePr>
            <a:graphicFrameLocks/>
          </p:cNvGraphicFramePr>
          <p:nvPr/>
        </p:nvGraphicFramePr>
        <p:xfrm>
          <a:off x="3976688" y="1928236"/>
          <a:ext cx="3257548" cy="3802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26C58EE-19AA-1FB3-DDB3-CC925A189E70}"/>
              </a:ext>
            </a:extLst>
          </p:cNvPr>
          <p:cNvSpPr txBox="1">
            <a:spLocks/>
          </p:cNvSpPr>
          <p:nvPr/>
        </p:nvSpPr>
        <p:spPr>
          <a:xfrm>
            <a:off x="53198" y="86265"/>
            <a:ext cx="10877550" cy="1037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 01 C</a:t>
            </a:r>
            <a:b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SYSTEMIC HORMONAL PREPARATIONS, EXCL. SEX HORMONES </a:t>
            </a:r>
            <a:b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4984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INSULINS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A8F7063-9D4D-A109-A83E-999F21245D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5681164"/>
              </p:ext>
            </p:extLst>
          </p:nvPr>
        </p:nvGraphicFramePr>
        <p:xfrm>
          <a:off x="4179137" y="2457647"/>
          <a:ext cx="298761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64467AA-7FA5-0136-D335-92E70E668D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9271911"/>
              </p:ext>
            </p:extLst>
          </p:nvPr>
        </p:nvGraphicFramePr>
        <p:xfrm>
          <a:off x="4111654" y="2518912"/>
          <a:ext cx="3122582" cy="228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5777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</TotalTime>
  <Words>515</Words>
  <Application>Microsoft Office PowerPoint</Application>
  <PresentationFormat>Widescreen</PresentationFormat>
  <Paragraphs>243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</vt:lpstr>
      <vt:lpstr>Calibri Light</vt:lpstr>
      <vt:lpstr>Office Theme</vt:lpstr>
      <vt:lpstr>H  SYSTEMIC HORMONAL PREPARATIONS, EXCL. SEX HORMONES  AND INSULINS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Eman Eissa</dc:creator>
  <cp:lastModifiedBy>Hadi Tarek</cp:lastModifiedBy>
  <cp:revision>83</cp:revision>
  <dcterms:created xsi:type="dcterms:W3CDTF">2023-06-06T09:23:17Z</dcterms:created>
  <dcterms:modified xsi:type="dcterms:W3CDTF">2024-08-03T09:41:11Z</dcterms:modified>
</cp:coreProperties>
</file>